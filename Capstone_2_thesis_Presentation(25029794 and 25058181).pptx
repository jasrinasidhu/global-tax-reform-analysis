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5" d="100"/>
          <a:sy n="65" d="100"/>
        </p:scale>
        <p:origin x="350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8569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FA5EC-6F5C-EB38-CB9F-95D4C8A9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95E56-493B-A178-3148-76D357EB1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FEE27-1D33-F57F-838A-ECF444502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B1752-20A9-9714-4A00-F58B1BAF4E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26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86868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EFFECTS OF TAX REFORMS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ENTREPRENEURSHIP: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GLOBAL ANALYSIS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3657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Khadarvalli Shaik (25029794)  |  Jasrina Kaur Sidhu (25058181)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PRJ5158 Capstone Project II  |  Master of Business Analytics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Mohammed Muayad Abdulrazzaq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Muaadh Mukred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Sunway Business School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37160"/>
            <a:ext cx="8924544" cy="71323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137160"/>
            <a:ext cx="3200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Domain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tax structure matter for entrepreneurship?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" y="96012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7160" y="960120"/>
            <a:ext cx="41605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6888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Challenge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" y="141732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face compounded tax burdens - CIT, PIT, VAT, Payroll, and Property - simultaneously. These interactions are not well understood at global scale.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examines taxes in isolation, using short panels and linear methods that miss threshold effects and interactions.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Policymakers currently have no reliable real-time tool to forecast how a change in tax mix affects new business formation.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960120"/>
            <a:ext cx="2103120" cy="1051560"/>
          </a:xfrm>
          <a:prstGeom prst="rect">
            <a:avLst/>
          </a:prstGeom>
          <a:solidFill>
            <a:srgbClr val="1C2B3A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34840" y="960120"/>
            <a:ext cx="21031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434840" y="1069848"/>
            <a:ext cx="210312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434840" y="1538478"/>
            <a:ext cx="210312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1780337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coverage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960120"/>
            <a:ext cx="2331720" cy="1051560"/>
          </a:xfrm>
          <a:prstGeom prst="rect">
            <a:avLst/>
          </a:prstGeom>
          <a:solidFill>
            <a:srgbClr val="1C2B3A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75120" y="960120"/>
            <a:ext cx="23317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75120" y="1069848"/>
            <a:ext cx="233172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yrs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675120" y="1538478"/>
            <a:ext cx="233172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780337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1980–2022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4840" y="2121408"/>
            <a:ext cx="2103120" cy="1051560"/>
          </a:xfrm>
          <a:prstGeom prst="rect">
            <a:avLst/>
          </a:prstGeom>
          <a:solidFill>
            <a:srgbClr val="1C2B3A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434840" y="2121408"/>
            <a:ext cx="21031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434840" y="2231136"/>
            <a:ext cx="210312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8,408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434840" y="2699766"/>
            <a:ext cx="210312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34840" y="2941625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Country-year panel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2121408"/>
            <a:ext cx="2331720" cy="1051560"/>
          </a:xfrm>
          <a:prstGeom prst="rect">
            <a:avLst/>
          </a:prstGeom>
          <a:solidFill>
            <a:srgbClr val="1C2B3A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675120" y="2121408"/>
            <a:ext cx="23317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675120" y="2231136"/>
            <a:ext cx="233172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Taxes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675120" y="2699766"/>
            <a:ext cx="233172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2941625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CIT·PIT·VAT·Payroll·Property·Excise·IND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37160" y="3246120"/>
            <a:ext cx="8869680" cy="11887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333756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Tax code complexity is an independently documented barrier to business formation yet its combined multi-tax interaction effect has never been analysed at global scale with AI methods.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37160"/>
            <a:ext cx="8924544" cy="71323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137160"/>
            <a:ext cx="3200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850392"/>
            <a:ext cx="8869680" cy="10515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37160" y="960120"/>
            <a:ext cx="274320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globally applicable AI tool exists to predict how changes in the tax mix affect entrepreneurial entry density. Existing methods are retrospective, single-tax, and linear - unable to detect the non-linear, multi-tax interactions that actually govern business formation decisions.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" y="2148840"/>
            <a:ext cx="2880360" cy="193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137160" y="2148840"/>
            <a:ext cx="28803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" y="2148840"/>
            <a:ext cx="54864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716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Effects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0115" y="2670048"/>
            <a:ext cx="266090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interaction effects among direct taxes and indirect taxes influence the establishment rate of new businesses across different global regions?</a:t>
            </a:r>
          </a:p>
          <a:p>
            <a:pPr marL="0" indent="0">
              <a:buNone/>
            </a:pPr>
            <a:endParaRPr lang="en-US" sz="1000" dirty="0">
              <a:solidFill>
                <a:srgbClr val="1C2B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127248" y="2148840"/>
            <a:ext cx="2880360" cy="1943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127248" y="2148840"/>
            <a:ext cx="28803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127248" y="2148840"/>
            <a:ext cx="54864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127248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21608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Tax Mix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36976" y="2670048"/>
            <a:ext cx="2660904" cy="1414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degree do particular taxes, such as property and payroll taxes, create barriers for firms seeking to employ workers compared to individuals operating independently?</a:t>
            </a:r>
          </a:p>
          <a:p>
            <a:pPr marL="0" indent="0">
              <a:buNone/>
            </a:pPr>
            <a:endParaRPr lang="en-US" sz="1000" dirty="0">
              <a:solidFill>
                <a:srgbClr val="1C2B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17336" y="2148840"/>
            <a:ext cx="2880360" cy="193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117336" y="2148840"/>
            <a:ext cx="28803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117336" y="2148840"/>
            <a:ext cx="54864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117336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11696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 Engine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27064" y="2670048"/>
            <a:ext cx="2660904" cy="1414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ML method best forecasts economic status? </a:t>
            </a:r>
          </a:p>
          <a:p>
            <a:endParaRPr lang="en-US" sz="1000" dirty="0">
              <a:solidFill>
                <a:srgbClr val="1C2B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37160" y="4183380"/>
            <a:ext cx="8869680" cy="864108"/>
          </a:xfrm>
          <a:prstGeom prst="rect">
            <a:avLst/>
          </a:prstGeom>
          <a:solidFill>
            <a:srgbClr val="E8F1F8"/>
          </a:solidFill>
          <a:ln w="12700">
            <a:solidFill>
              <a:srgbClr val="D0D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4471416"/>
            <a:ext cx="850392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RO1: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how CIT, PIT, VAT, Payroll, and Property taxes jointly affect new business entry rates across 196 countries, 1980 to 2022.</a:t>
            </a:r>
            <a:endParaRPr lang="en-US" sz="1050" dirty="0"/>
          </a:p>
          <a:p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RO2: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Tax Mix Fingerprint threshold that maximizes entrepreneurial activity while maintaining fiscal sustainability.</a:t>
            </a:r>
            <a:endParaRPr lang="en-US" sz="1050" dirty="0"/>
          </a:p>
          <a:p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RO3: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validate an AI ensemble model that forecasts how tax structure changes will affect future business density.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37160"/>
            <a:ext cx="8924544" cy="51663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137160"/>
            <a:ext cx="320040" cy="5166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251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prior research established - and where the gap lies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7160" y="1005840"/>
            <a:ext cx="42976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6888" y="10789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Fairlie et al. (2025)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" y="1353312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Large CIT cuts → +5% employer startups. Tax primarily affects entry margin, not growth. Short US panel - not globally generalisable.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45152" y="100584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45152" y="1005840"/>
            <a:ext cx="42976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10789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(2025)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353312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VAT reform harmed tech SMEs: labour costs not deductible → reduced innovation. Design matters as much as rate level.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37160" y="2304288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37160" y="2304288"/>
            <a:ext cx="42976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6888" y="23774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Al-Karkhi &amp; Rzadkowski (2025)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" y="2651760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ensemble best for fiscal analytics on imbalanced panels. Benchmark: 82-87% classification accuracy. SDR/DSR framework advocated.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45152" y="2304288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45152" y="2304288"/>
            <a:ext cx="42976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23774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Swenson (2024)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651760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forecasts quarterly tax payments robustly under COVID volatility. R² up to 0.75. DSR artefact evaluation criteria established.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37160" y="3602736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37160" y="3602736"/>
            <a:ext cx="42976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46888" y="36758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(2021)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6888" y="3950208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Prize-reducing, entry-barrier, and tax-level effects documented. Progressive structures favour small firms. Single-country analysis.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45152" y="3602736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45152" y="3602736"/>
            <a:ext cx="42976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36758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et al. (2023)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950208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ASEAN: GDP and population drive FDI more than tax rates. OLS/FE methods. Short regional panel.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37160" y="4709160"/>
            <a:ext cx="886968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74320" y="47365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applies AI ensemble methods to a global 43-year multi-tax panel. No tool exists for real-time policy simulation with explainable AI.</a:t>
            </a:r>
            <a:endParaRPr lang="en-US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C5236D-C452-4247-D75B-65C3963AF6B9}"/>
              </a:ext>
            </a:extLst>
          </p:cNvPr>
          <p:cNvSpPr txBox="1"/>
          <p:nvPr/>
        </p:nvSpPr>
        <p:spPr>
          <a:xfrm>
            <a:off x="137160" y="691931"/>
            <a:ext cx="88056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Some of the key articles and previous studies cited in this review are highlighted in this slide:</a:t>
            </a:r>
            <a:endParaRPr lang="en-I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37160"/>
            <a:ext cx="8924544" cy="71323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137160"/>
            <a:ext cx="3200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Science Research (DSR)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1627632" cy="274828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7160" y="1005840"/>
            <a:ext cx="162763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" y="107899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676656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" y="16916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" y="2331720"/>
            <a:ext cx="1536192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countries · 43 yrs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correction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64792" y="2606040"/>
            <a:ext cx="15544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20240" y="1005840"/>
            <a:ext cx="1627632" cy="274828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920240" y="1005840"/>
            <a:ext cx="162763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459736" y="107899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59736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65960" y="16916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2331720"/>
            <a:ext cx="1536192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5-group imputation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35,000+ gaps resolved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47872" y="2606040"/>
            <a:ext cx="15544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03320" y="1005840"/>
            <a:ext cx="1627632" cy="274828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703320" y="1005840"/>
            <a:ext cx="162763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242816" y="107899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242816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49040" y="16916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2331720"/>
            <a:ext cx="1536192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30952" y="2606040"/>
            <a:ext cx="15544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486400" y="1005840"/>
            <a:ext cx="1627632" cy="274828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486400" y="1005840"/>
            <a:ext cx="162763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025896" y="107899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025896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32120" y="16916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2331720"/>
            <a:ext cx="1536192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baseline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1: Regression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2: Classification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14032" y="2606040"/>
            <a:ext cx="15544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269480" y="1005840"/>
            <a:ext cx="1627632" cy="274828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269480" y="1005840"/>
            <a:ext cx="162763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808976" y="107899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808976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315200" y="169164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0" y="2331720"/>
            <a:ext cx="1536192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artefact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37160" y="4636008"/>
            <a:ext cx="8869680" cy="438912"/>
          </a:xfrm>
          <a:prstGeom prst="rect">
            <a:avLst/>
          </a:prstGeom>
          <a:solidFill>
            <a:srgbClr val="E8F1F8"/>
          </a:solidFill>
          <a:ln w="12700">
            <a:solidFill>
              <a:srgbClr val="D0D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74320" y="4681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 </a:t>
            </a: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 · XGBoost · SHAP · Gradio · Plotly · wbgapi</a:t>
            </a:r>
            <a:endParaRPr lang="en-US" sz="105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8063FD-FFE2-85C3-C9E8-E080C32B25E8}"/>
              </a:ext>
            </a:extLst>
          </p:cNvPr>
          <p:cNvSpPr txBox="1"/>
          <p:nvPr/>
        </p:nvSpPr>
        <p:spPr>
          <a:xfrm>
            <a:off x="146304" y="3871898"/>
            <a:ext cx="8759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Why DSR: </a:t>
            </a:r>
            <a:r>
              <a:rPr lang="en-IN" sz="1200" dirty="0"/>
              <a:t>the primary goal is not just to describe a problem but to create a functional Artifact. It follows an enhancing pathway from problem identification to design and development.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37160"/>
            <a:ext cx="8924544" cy="71323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137160"/>
            <a:ext cx="3200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&amp; Cleaning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imputation - matched to missingness mechanism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3933" y="1345565"/>
            <a:ext cx="1280160" cy="43891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3369" y="135030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483529" y="133659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542965" y="139691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GRD + WDI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" y="1933109"/>
            <a:ext cx="1280160" cy="43891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43933" y="1902037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485900" y="1916451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531620" y="1966405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columns 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3933" y="2526750"/>
            <a:ext cx="1280160" cy="43891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74837" y="25125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485900" y="2519173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531620" y="257886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One-position index shift: VAT↔Excise labels swapped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6304" y="3158236"/>
            <a:ext cx="1280160" cy="43891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43933" y="314883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via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485900" y="3172968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515533" y="32049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6.4%, UK 5.8%, USA 0.0% VAT-to-GDP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2588" y="3770884"/>
            <a:ext cx="1280160" cy="43891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55448" y="377088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ENTRY_Density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485900" y="377190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531620" y="38186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÷ Working-age pop × 1,000 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" y="35204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508760" y="3566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7160" y="40233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508760" y="40690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1005840"/>
            <a:ext cx="3886200" cy="35204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120640" y="1005840"/>
            <a:ext cx="3886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30368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5-Group Hierarchical Imputation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30368" y="1417320"/>
            <a:ext cx="64008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230368" y="1417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16168" y="14630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→ ISO forward/backward fill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30368" y="2011680"/>
            <a:ext cx="64008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230368" y="2011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16168" y="20574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INC_Historical → ISO fill (preserves transitions)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30368" y="2606040"/>
            <a:ext cx="64008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230368" y="2606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16168" y="265176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taxes → 4-step cascade: interpolate → edge fill → regional peer median → global median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230368" y="3200400"/>
            <a:ext cx="64008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230368" y="32004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16168" y="32461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Resource/Trade → conditional zero-fill then cascade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230368" y="3794760"/>
            <a:ext cx="64008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230368" y="3794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16168" y="38404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(1.5% missing) → simple interpolation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37160" y="4636008"/>
            <a:ext cx="8869680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74320" y="4681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Zero missing values across all 30 predictor columns · 35,000+ gaps resolved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37160"/>
            <a:ext cx="8924544" cy="71323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137160"/>
            <a:ext cx="3200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- Key Findings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43 years of global tax data reveals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7160" y="1005840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37160" y="1051560"/>
            <a:ext cx="658368" cy="56692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7160" y="105156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doubled globally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6888" y="1664208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VAT-to-GDP rose from 2.9% → 5.2% over 43 years. Governments replaced CIT revenue with consumption tax.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10058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127248" y="1005840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127248" y="1051560"/>
            <a:ext cx="658368" cy="56692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127248" y="105156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Mix Fingerprint declined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36976" y="1664208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CIT÷VAT fell from 1.25 (1980) to 0.70 (2022) - the world became progressively VAT-dominant.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17336" y="10058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17336" y="1005840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17336" y="1051560"/>
            <a:ext cx="658368" cy="56692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17336" y="105156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30568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density income gap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27064" y="1664208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income: 0.40 firms/1k  →  High income: 6.18 firms/1k. A 15-fold gap driven by tax and institutional structure.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37160" y="2971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37160" y="2971800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37160" y="3017520"/>
            <a:ext cx="658368" cy="56692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37160" y="3017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r≈0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0392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 confirmed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6888" y="3630168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TAX_Mix_Fingerprint Pearson r = -0.017 (near-zero). This confirms a non-linear threshold relationship - justifying ML over OLS.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27248" y="2971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127248" y="2971800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127248" y="3017520"/>
            <a:ext cx="658368" cy="56692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127248" y="3017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84048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validation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36976" y="3630168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2008 GFC and COVID-19 dips are visible in the data - confirming it captures real economic events with face validity.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17336" y="2971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117336" y="2971800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117336" y="3017520"/>
            <a:ext cx="658368" cy="56692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117336" y="30175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30568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threshold found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27064" y="3630168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dependence: when CIT÷VAT &lt; 0.44, entry density is boosted. Above 0.44 → entrepreneurship is suppressed.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07862-23D3-46CF-F51B-08B0F085E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C98FEB-1C7D-EC89-0035-F85F32BFB80F}"/>
              </a:ext>
            </a:extLst>
          </p:cNvPr>
          <p:cNvSpPr/>
          <p:nvPr/>
        </p:nvSpPr>
        <p:spPr>
          <a:xfrm>
            <a:off x="109728" y="137160"/>
            <a:ext cx="8924544" cy="56692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FB1C413-3E45-0064-6913-C52B62712EF2}"/>
              </a:ext>
            </a:extLst>
          </p:cNvPr>
          <p:cNvSpPr/>
          <p:nvPr/>
        </p:nvSpPr>
        <p:spPr>
          <a:xfrm>
            <a:off x="109728" y="137160"/>
            <a:ext cx="320040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6EAB7D-B4DA-6292-3ECB-3C59EF0DBB40}"/>
              </a:ext>
            </a:extLst>
          </p:cNvPr>
          <p:cNvSpPr/>
          <p:nvPr/>
        </p:nvSpPr>
        <p:spPr>
          <a:xfrm>
            <a:off x="54864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- Visuals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214BE47-257D-6B02-D151-894F488BC276}"/>
              </a:ext>
            </a:extLst>
          </p:cNvPr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96D3C03-B122-CCE6-DD2B-1A9BE54BE25F}"/>
              </a:ext>
            </a:extLst>
          </p:cNvPr>
          <p:cNvSpPr/>
          <p:nvPr/>
        </p:nvSpPr>
        <p:spPr>
          <a:xfrm>
            <a:off x="137160" y="1005840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2B5AB98-A7A4-9D74-08E9-3B1B945A4FF9}"/>
              </a:ext>
            </a:extLst>
          </p:cNvPr>
          <p:cNvSpPr/>
          <p:nvPr/>
        </p:nvSpPr>
        <p:spPr>
          <a:xfrm>
            <a:off x="137160" y="1051560"/>
            <a:ext cx="658368" cy="56692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5F9222D-F534-D1EC-EAB6-BBC0FDE8A6D3}"/>
              </a:ext>
            </a:extLst>
          </p:cNvPr>
          <p:cNvSpPr/>
          <p:nvPr/>
        </p:nvSpPr>
        <p:spPr>
          <a:xfrm>
            <a:off x="137160" y="105156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836D5A4-E646-FB41-A720-4CEA89504D28}"/>
              </a:ext>
            </a:extLst>
          </p:cNvPr>
          <p:cNvSpPr/>
          <p:nvPr/>
        </p:nvSpPr>
        <p:spPr>
          <a:xfrm>
            <a:off x="850392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doubled globally</a:t>
            </a:r>
            <a:endParaRPr lang="en-US" sz="10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BAFEC36-2C68-DF71-CA4B-2A403B79814F}"/>
              </a:ext>
            </a:extLst>
          </p:cNvPr>
          <p:cNvSpPr/>
          <p:nvPr/>
        </p:nvSpPr>
        <p:spPr>
          <a:xfrm>
            <a:off x="3127248" y="10058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3DBE2CD-FD02-3ECA-560C-AEABF4E5AE3E}"/>
              </a:ext>
            </a:extLst>
          </p:cNvPr>
          <p:cNvSpPr/>
          <p:nvPr/>
        </p:nvSpPr>
        <p:spPr>
          <a:xfrm>
            <a:off x="3127248" y="1005840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C58A583-E018-7435-54A3-47E50D2C2B54}"/>
              </a:ext>
            </a:extLst>
          </p:cNvPr>
          <p:cNvSpPr/>
          <p:nvPr/>
        </p:nvSpPr>
        <p:spPr>
          <a:xfrm>
            <a:off x="3183466" y="1051560"/>
            <a:ext cx="602149" cy="56692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E7714BE-9411-2D9F-FB4E-114FCAC7BE4B}"/>
              </a:ext>
            </a:extLst>
          </p:cNvPr>
          <p:cNvSpPr/>
          <p:nvPr/>
        </p:nvSpPr>
        <p:spPr>
          <a:xfrm>
            <a:off x="3127248" y="105156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7414CA2-AAAB-1688-7DB2-5CDE0C43B6D8}"/>
              </a:ext>
            </a:extLst>
          </p:cNvPr>
          <p:cNvSpPr/>
          <p:nvPr/>
        </p:nvSpPr>
        <p:spPr>
          <a:xfrm>
            <a:off x="384048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Mix Fingerprint declined</a:t>
            </a:r>
            <a:endParaRPr lang="en-US" sz="10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16ACEFE-FDF3-C2C1-F88F-534CBB2222CB}"/>
              </a:ext>
            </a:extLst>
          </p:cNvPr>
          <p:cNvSpPr/>
          <p:nvPr/>
        </p:nvSpPr>
        <p:spPr>
          <a:xfrm>
            <a:off x="6117336" y="10058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89BA064-3E51-1FF3-DF47-443B5FEB9F0F}"/>
              </a:ext>
            </a:extLst>
          </p:cNvPr>
          <p:cNvSpPr/>
          <p:nvPr/>
        </p:nvSpPr>
        <p:spPr>
          <a:xfrm>
            <a:off x="6117336" y="1005840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71D1D7F-A1E6-9CA2-CE57-E61AEF6A5C29}"/>
              </a:ext>
            </a:extLst>
          </p:cNvPr>
          <p:cNvSpPr/>
          <p:nvPr/>
        </p:nvSpPr>
        <p:spPr>
          <a:xfrm>
            <a:off x="6117336" y="1051560"/>
            <a:ext cx="658368" cy="56692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0F1ACB5-9D4F-3465-DD4F-4EF2D4F83A44}"/>
              </a:ext>
            </a:extLst>
          </p:cNvPr>
          <p:cNvSpPr/>
          <p:nvPr/>
        </p:nvSpPr>
        <p:spPr>
          <a:xfrm>
            <a:off x="6117336" y="105156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8EEF43C-E0A7-8EDB-7BE7-9641A6CCE079}"/>
              </a:ext>
            </a:extLst>
          </p:cNvPr>
          <p:cNvSpPr/>
          <p:nvPr/>
        </p:nvSpPr>
        <p:spPr>
          <a:xfrm>
            <a:off x="6830568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density income gap</a:t>
            </a:r>
            <a:endParaRPr lang="en-US" sz="10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5A87030-DA51-9307-A6E4-AEA88F404C6C}"/>
              </a:ext>
            </a:extLst>
          </p:cNvPr>
          <p:cNvSpPr/>
          <p:nvPr/>
        </p:nvSpPr>
        <p:spPr>
          <a:xfrm>
            <a:off x="1540764" y="301752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ABDF4F2-A12F-F801-9D19-82832539381E}"/>
              </a:ext>
            </a:extLst>
          </p:cNvPr>
          <p:cNvSpPr/>
          <p:nvPr/>
        </p:nvSpPr>
        <p:spPr>
          <a:xfrm>
            <a:off x="1538224" y="2977768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933D14D-47AE-C336-C7B0-E3A9E1094354}"/>
              </a:ext>
            </a:extLst>
          </p:cNvPr>
          <p:cNvSpPr/>
          <p:nvPr/>
        </p:nvSpPr>
        <p:spPr>
          <a:xfrm>
            <a:off x="5006848" y="2970229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238106D-E1F8-6AAA-EBE4-F525CCC2ABA5}"/>
              </a:ext>
            </a:extLst>
          </p:cNvPr>
          <p:cNvSpPr/>
          <p:nvPr/>
        </p:nvSpPr>
        <p:spPr>
          <a:xfrm>
            <a:off x="5004308" y="2953036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E0E12B8-278D-F66B-6427-69D07DB42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" y="1041320"/>
            <a:ext cx="2862072" cy="1776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63C1BEA-DC01-5D57-4404-C8A18C463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328" y="1046439"/>
            <a:ext cx="2834640" cy="176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8CB5D19-60A7-7F70-ECDC-C6996611C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848" y="3040380"/>
            <a:ext cx="2829560" cy="178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EC6C40FB-3EF9-3E1C-B9F5-1934F440D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764" y="3017520"/>
            <a:ext cx="2829560" cy="178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DFB5842B-14A4-DC44-EBCF-81F858878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256" y="1041320"/>
            <a:ext cx="2839720" cy="1776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576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37160"/>
            <a:ext cx="8924544" cy="71323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137160"/>
            <a:ext cx="3200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Dual-Track Modelling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tracks - and what each answers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" y="987552"/>
            <a:ext cx="8869680" cy="822960"/>
          </a:xfrm>
          <a:prstGeom prst="rect">
            <a:avLst/>
          </a:prstGeom>
          <a:solidFill>
            <a:srgbClr val="E8F1F8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137160" y="987552"/>
            <a:ext cx="274320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Baseline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33502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Fixed Effects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7160" y="1938528"/>
            <a:ext cx="4343400" cy="3090672"/>
          </a:xfrm>
          <a:prstGeom prst="rect">
            <a:avLst/>
          </a:prstGeom>
          <a:solidFill>
            <a:srgbClr val="E8F4EC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37160" y="1938528"/>
            <a:ext cx="434340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8600" y="19385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1 - Regression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2542032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ENTRY_Density (new firms/1,000 working-population)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301752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2,312 rows · 170 countries · 2006-2022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3493008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→ Fixed Effects → Random Forest → XGBoost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3968496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RO1: Which taxes drive entry density?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443984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RO3: Can AI predict future entry rates?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938528"/>
            <a:ext cx="4343400" cy="3090672"/>
          </a:xfrm>
          <a:prstGeom prst="rect">
            <a:avLst/>
          </a:prstGeom>
          <a:solidFill>
            <a:srgbClr val="E8EEF8"/>
          </a:solidFill>
          <a:ln w="1905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938528"/>
            <a:ext cx="4343400" cy="50292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19385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2 - Classification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2542032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INC_Historical (income group 1-4)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301752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8,408 rows · 196 countries · 1980-2022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493008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XGBoost Classifier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968496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Which ML method best forecasts economic status?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4443984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RO3: Does tax fingerprint encode development level?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37160"/>
            <a:ext cx="8924544" cy="71323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137160"/>
            <a:ext cx="3200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Regression Track (Track 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entrepreneurial entry density from tax 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" y="3520440"/>
            <a:ext cx="196596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7160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0.2675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" y="40050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" y="4297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59152" y="3063240"/>
            <a:ext cx="196596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359152" y="3108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0.0616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59152" y="40050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Effects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59152" y="4297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Within-country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81144" y="2606040"/>
            <a:ext cx="1965960" cy="137160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81144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0.8079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81144" y="40050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81144" y="4297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+202% vs OLS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03136" y="2148840"/>
            <a:ext cx="1965960" cy="1828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03136" y="2194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0.8437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03136" y="40050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(tuned)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03136" y="4297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model (pre-tuning: 0.8164)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37160" y="987552"/>
            <a:ext cx="27432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37160" y="987552"/>
            <a:ext cx="2743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37160" y="1097280"/>
            <a:ext cx="27432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+215%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37160" y="1515618"/>
            <a:ext cx="27432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OLS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" y="1736446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vs statistical baseline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63240" y="987552"/>
            <a:ext cx="27432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063240" y="987552"/>
            <a:ext cx="2743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063240" y="1097280"/>
            <a:ext cx="27432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0.8437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3063240" y="1515618"/>
            <a:ext cx="27432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(XGBoost)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63240" y="1736446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84% of variation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89320" y="987552"/>
            <a:ext cx="301752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989320" y="987552"/>
            <a:ext cx="30175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989320" y="1097280"/>
            <a:ext cx="30175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&gt;Swenson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5989320" y="1515618"/>
            <a:ext cx="30175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literature max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89320" y="1736446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benchmark: R² = 0.78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3063240"/>
            <a:ext cx="84582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699173" y="282001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215% improvement</a:t>
            </a:r>
            <a:endParaRPr lang="en-US" sz="1000" dirty="0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836EAD7E-8EFD-7586-D1DB-5E80324405DB}"/>
              </a:ext>
            </a:extLst>
          </p:cNvPr>
          <p:cNvSpPr/>
          <p:nvPr/>
        </p:nvSpPr>
        <p:spPr>
          <a:xfrm>
            <a:off x="6803136" y="45720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model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37160"/>
            <a:ext cx="8924544" cy="71323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137160"/>
            <a:ext cx="3200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Classification Track (Track 2)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income group from 43-year tax history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" y="2376928"/>
            <a:ext cx="1353312" cy="1692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7160" y="243179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57.83%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" y="409651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54480" y="2555419"/>
            <a:ext cx="1353312" cy="1513661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554480" y="2610283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51.73%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409651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1508760"/>
            <a:ext cx="1353312" cy="2560320"/>
          </a:xfrm>
          <a:prstGeom prst="rect">
            <a:avLst/>
          </a:prstGeom>
          <a:solidFill>
            <a:srgbClr val="8CA3BA"/>
          </a:solidFill>
          <a:ln w="12700">
            <a:solidFill>
              <a:srgbClr val="8CA3B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971800" y="156362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409651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1475695"/>
            <a:ext cx="1353312" cy="259338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89120" y="1530559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88.63%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409651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06440" y="1392009"/>
            <a:ext cx="1353312" cy="2677071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806440" y="1446873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91.49%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409651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(tuned) 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" y="2057400"/>
            <a:ext cx="70866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82880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max: 87%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(Al-Karkhi 2025)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0" y="987552"/>
            <a:ext cx="1691640" cy="404164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315200" y="987552"/>
            <a:ext cx="1691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15200" y="1143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91.49%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15200" y="1645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0" y="24048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0.9150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15200" y="29077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0" y="366674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pp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15200" y="416966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literature
benchmark (Al-</a:t>
            </a:r>
            <a:r>
              <a:rPr lang="en-US" sz="950" b="1" dirty="0" err="1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Karkhi</a:t>
            </a: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60920" y="4603157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Misclassifications only between adjacent income groups - model learned real economic logic.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37160"/>
            <a:ext cx="8924544" cy="71323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137160"/>
            <a:ext cx="3200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model learned real economic relationships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" y="987552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7160" y="987552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6888" y="107899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" y="1371600"/>
            <a:ext cx="2615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R²: 0.8164 → 0.8437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Accuracy: 90.59% → 91.49%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improved across both tracks.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" y="129844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· 5-fold CV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27248" y="987552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27248" y="987552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36976" y="107899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Check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36976" y="1371600"/>
            <a:ext cx="2615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gap: 0.08 ✓ (well within threshold)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gap: 0.15 ✓ (acceptable for panel data)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of overfitting in either of our best models.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36976" y="129844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test gap analysis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17336" y="987552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17336" y="987552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27064" y="107899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Benchmarking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27064" y="1371600"/>
            <a:ext cx="2615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Reg, SVR, KNN vs XGBoost (Regression)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Logistic, Naïve Bayes, KNN vs RF (Classification)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alternatives outperformed on all metrics.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27064" y="129844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alternative models tested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" y="3090672"/>
            <a:ext cx="8869680" cy="19659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37160" y="3090672"/>
            <a:ext cx="8869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4320" y="318211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Test - Without being told about any crisis, did the model predict the right direction?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584448"/>
            <a:ext cx="4160520" cy="1325880"/>
          </a:xfrm>
          <a:prstGeom prst="rect">
            <a:avLst/>
          </a:prstGeom>
          <a:solidFill>
            <a:srgbClr val="152232"/>
          </a:solidFill>
          <a:ln w="12700">
            <a:solidFill>
              <a:srgbClr val="2E4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84048" y="3630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Financial Crisis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39502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drop: -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0.892 (2007→2009)
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drop: -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0.772 ✓ same direction
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584448"/>
            <a:ext cx="4160520" cy="1325880"/>
          </a:xfrm>
          <a:prstGeom prst="rect">
            <a:avLst/>
          </a:prstGeom>
          <a:solidFill>
            <a:srgbClr val="152232"/>
          </a:solidFill>
          <a:ln w="12700">
            <a:solidFill>
              <a:srgbClr val="2E4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73168" y="3630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Pandemic (2020)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39502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drop: -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0.315 (2019→2020)
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drop: -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0.199 ✓ same direction
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37160"/>
            <a:ext cx="8924544" cy="71323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137160"/>
            <a:ext cx="3200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black box - which taxes drive entrepreneurship and how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" y="100584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Income Tax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12848" y="1051560"/>
            <a:ext cx="41148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304288" y="1051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0.2389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0058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Higher → more firms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7160" y="15087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12848" y="1554480"/>
            <a:ext cx="2057400" cy="347472"/>
          </a:xfrm>
          <a:prstGeom prst="rect">
            <a:avLst/>
          </a:prstGeom>
          <a:solidFill>
            <a:srgbClr val="27AE90"/>
          </a:solidFill>
          <a:ln w="12700">
            <a:solidFill>
              <a:srgbClr val="27AE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304288" y="1554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5087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Higher → more firms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7160" y="20116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Tax Total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12848" y="2057400"/>
            <a:ext cx="1769364" cy="3474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304288" y="2057400"/>
            <a:ext cx="1677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0.1016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Higher → more firms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7160" y="251460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Tax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12848" y="2560320"/>
            <a:ext cx="15224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2304288" y="2560320"/>
            <a:ext cx="14310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0.0888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5146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Higher → more firms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7160" y="30175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Income Tax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12848" y="3063240"/>
            <a:ext cx="1110996" cy="347472"/>
          </a:xfrm>
          <a:prstGeom prst="rect">
            <a:avLst/>
          </a:prstGeom>
          <a:solidFill>
            <a:srgbClr val="7FB3D6"/>
          </a:solidFill>
          <a:ln w="12700">
            <a:solidFill>
              <a:srgbClr val="7FB3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304288" y="3063240"/>
            <a:ext cx="10195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0.0636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30175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Higher → more firms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7160" y="352044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Mix Fingerprint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12848" y="3566160"/>
            <a:ext cx="6172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304288" y="3566160"/>
            <a:ext cx="525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0.0346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5204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Higher → fewer firms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37160" y="40233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Tax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12848" y="4069080"/>
            <a:ext cx="452628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304288" y="4069080"/>
            <a:ext cx="361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0.0236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0233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Higher → fewer firms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37160" y="4572000"/>
            <a:ext cx="8869680" cy="47548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37160" y="4572000"/>
            <a:ext cx="27432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2920" y="4608576"/>
            <a:ext cx="8458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SHAP Discovery (RO2):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Mix Fingerprint (CIT÷VAT) &lt; 0.44 → positive SHAP contribution (VAT-dominant promotes entrepreneurship). Above 0.44 → suppresses entry. First time this threshold is empirically derived at global scale.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Artefact: Tax Response Engine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Gradio-based interactive tool - 4 tabs · Real-time AI prediction 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987552"/>
            <a:ext cx="2057400" cy="3657600"/>
          </a:xfrm>
          <a:prstGeom prst="rect">
            <a:avLst/>
          </a:prstGeom>
          <a:solidFill>
            <a:srgbClr val="152232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37160" y="987552"/>
            <a:ext cx="2057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8680" y="1078992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1783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Explorer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2402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country → 43-year tax trends · Tax Mix Fingerprint trajectory · Entry density timeline · 2008 &amp; COVID shading · RO1 answers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59152" y="987552"/>
            <a:ext cx="2057400" cy="3657600"/>
          </a:xfrm>
          <a:prstGeom prst="rect">
            <a:avLst/>
          </a:prstGeom>
          <a:solidFill>
            <a:srgbClr val="152232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359152" y="987552"/>
            <a:ext cx="2057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090672" y="1078992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090672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50592" y="1783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Simulator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50592" y="22402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policy change · AI predicts entry density + income group · SHAP explanation · Direct/Indirect comparison · RQ1 + RQ2 + RO3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81144" y="987552"/>
            <a:ext cx="2057400" cy="3657600"/>
          </a:xfrm>
          <a:prstGeom prst="rect">
            <a:avLst/>
          </a:prstGeom>
          <a:solidFill>
            <a:srgbClr val="152232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81144" y="987552"/>
            <a:ext cx="2057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312664" y="1078992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312664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72584" y="1783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Rankings &amp; Map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72584" y="22402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world map · Hover any country · Filter by region/income group · 3D rotatable scatter: Fingerprint × PIT × Entry Density · RO1 + RO2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03136" y="987552"/>
            <a:ext cx="2057400" cy="3657600"/>
          </a:xfrm>
          <a:prstGeom prst="rect">
            <a:avLst/>
          </a:prstGeom>
          <a:solidFill>
            <a:srgbClr val="152232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803136" y="987552"/>
            <a:ext cx="2057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534656" y="1078992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534656" y="1078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94576" y="1783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Mix Analyser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94576" y="22402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Country-vs-country comparison · 3D fingerprint landscape · 2D threshold boundary · Concrete CIT reduction advice to reach optimal zone · RO2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37160" y="4709160"/>
            <a:ext cx="886968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74320" y="474573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37160"/>
            <a:ext cx="8924544" cy="71323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137160"/>
            <a:ext cx="32004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Literature Benchmarks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champion models exceed all published results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" y="1005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Track - All Models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325880"/>
          <a:ext cx="4297680" cy="1645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Effects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663440" y="10058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Track - All Models</a:t>
            </a:r>
            <a:endParaRPr lang="en-US" sz="11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343400" cy="1975104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Bayes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(tuned)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137160" y="3200400"/>
            <a:ext cx="8869680" cy="18745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137160" y="3200400"/>
            <a:ext cx="8869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274320" y="32735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Benchmark - This Study Exceeds All Comparable Published Results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3657600"/>
            <a:ext cx="1600200" cy="12801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11"/>
          <p:cNvSpPr/>
          <p:nvPr/>
        </p:nvSpPr>
        <p:spPr>
          <a:xfrm>
            <a:off x="274320" y="371246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0.44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74320" y="4224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Fairlie et al. (2025)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74320" y="45171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+ FE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2011680" y="3657600"/>
            <a:ext cx="1600200" cy="12801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2011680" y="371246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0.38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011680" y="4224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et al. (2023)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011680" y="45171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+ FE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749040" y="3657600"/>
            <a:ext cx="1600200" cy="12801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3749040" y="371246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0.78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3749040" y="4224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Swenson (2024)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749040" y="45171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5486400" y="3657600"/>
            <a:ext cx="1600200" cy="12801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5486400" y="371246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≈ 87%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0" y="4224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Al-Karkhi (2025)</a:t>
            </a:r>
            <a:endParaRPr lang="en-US" sz="900" dirty="0"/>
          </a:p>
        </p:txBody>
      </p:sp>
      <p:sp>
        <p:nvSpPr>
          <p:cNvPr id="10" name="Text 25"/>
          <p:cNvSpPr/>
          <p:nvPr/>
        </p:nvSpPr>
        <p:spPr>
          <a:xfrm>
            <a:off x="5486400" y="45171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Ensemble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7223760" y="3657600"/>
            <a:ext cx="1600200" cy="1280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7223760" y="371246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R²=0.8437 / Acc=91.49%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223760" y="4224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★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223760" y="45171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RF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86868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3840480" cy="1261872"/>
          </a:xfrm>
          <a:prstGeom prst="rect">
            <a:avLst/>
          </a:prstGeom>
          <a:solidFill>
            <a:srgbClr val="152232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54864" cy="1261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9875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29844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Mix Fingerprint operationalised. First global multi-tax ensemble study. Non-linear threshold of 0.44 empirically derived.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840480" cy="1261872"/>
          </a:xfrm>
          <a:prstGeom prst="rect">
            <a:avLst/>
          </a:prstGeom>
          <a:solidFill>
            <a:srgbClr val="152232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54864" cy="1261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9875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29844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5-group hierarchical imputation outperforms single-method approaches. Dual-track design covers both regression and classification.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304288"/>
            <a:ext cx="3840480" cy="1261872"/>
          </a:xfrm>
          <a:prstGeom prst="rect">
            <a:avLst/>
          </a:prstGeom>
          <a:solidFill>
            <a:srgbClr val="152232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40080" y="2304288"/>
            <a:ext cx="54864" cy="1261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2377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688336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R²=0.8437 and RF 91.49% accuracy both exceed all comparable published benchmarks in tax-entrepreneurship research.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304288"/>
            <a:ext cx="3840480" cy="1261872"/>
          </a:xfrm>
          <a:prstGeom prst="rect">
            <a:avLst/>
          </a:prstGeom>
          <a:solidFill>
            <a:srgbClr val="152232"/>
          </a:solidFill>
          <a:ln w="12700">
            <a:solidFill>
              <a:srgbClr val="2E4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304288"/>
            <a:ext cx="54864" cy="1261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2377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688336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Response Engine Dashboard: first globally deployable AI tool for real-time tax mix simulation with SHAP explanations.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794760"/>
            <a:ext cx="8229600" cy="822960"/>
          </a:xfrm>
          <a:prstGeom prst="rect">
            <a:avLst/>
          </a:prstGeom>
          <a:solidFill>
            <a:srgbClr val="152232"/>
          </a:solidFill>
          <a:ln w="12700">
            <a:solidFill>
              <a:srgbClr val="2E4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38404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macroeconomic controls · ENTRY_Density limited to 2006-2022 
</a:t>
            </a: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GDP, inflation, governance controls · Causal inference (DID) · Sub-national (state/province) extension for federal economies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82296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C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PRJ5158 Capstone Project II  |  Sunway Business School  |  Master of Business Analytics  |  April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2098</Words>
  <Application>Microsoft Office PowerPoint</Application>
  <PresentationFormat>On-screen Show (16:9)</PresentationFormat>
  <Paragraphs>358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 Response Engine - Capstone Presentation</dc:title>
  <dc:subject>PptxGenJS Presentation</dc:subject>
  <dc:creator>PptxGenJS</dc:creator>
  <cp:lastModifiedBy>Shaik Khadarvalli</cp:lastModifiedBy>
  <cp:revision>23</cp:revision>
  <dcterms:created xsi:type="dcterms:W3CDTF">2026-04-23T02:49:28Z</dcterms:created>
  <dcterms:modified xsi:type="dcterms:W3CDTF">2026-04-30T03:58:35Z</dcterms:modified>
</cp:coreProperties>
</file>